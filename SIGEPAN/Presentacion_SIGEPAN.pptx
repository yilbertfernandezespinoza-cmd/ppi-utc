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charts/chart1.xml" ContentType="application/vnd.openxmlformats-officedocument.drawingml.chart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B1B12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2B1B12"/>
                </a:solidFill>
                <a:latin typeface="Calibri"/>
              </a:rPr>
              <a:t>Distribución de las 34 RF por % de avance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RF por rango de avance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AB4E29"/>
              </a:solidFill>
              <a:effectLst/>
            </c:spPr>
          </c:dPt>
          <c:dPt>
            <c:idx val="1"/>
            <c:bubble3D val="0"/>
            <c:spPr>
              <a:solidFill>
                <a:srgbClr val="E8A33D"/>
              </a:solidFill>
              <a:effectLst/>
            </c:spPr>
          </c:dPt>
          <c:dPt>
            <c:idx val="2"/>
            <c:bubble3D val="0"/>
            <c:spPr>
              <a:solidFill>
                <a:srgbClr val="8C6A4A"/>
              </a:solidFill>
              <a:effectLst/>
            </c:spPr>
          </c:dPt>
          <c:dPt>
            <c:idx val="3"/>
            <c:bubble3D val="0"/>
            <c:spPr>
              <a:solidFill>
                <a:srgbClr val="C7B9A8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100% completado (7)</c:v>
                </c:pt>
                <c:pt idx="1">
                  <c:v>90-99% (16)</c:v>
                </c:pt>
                <c:pt idx="2">
                  <c:v>80-89% (8)</c:v>
                </c:pt>
                <c:pt idx="3">
                  <c:v>Menos de 80% (3)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7</c:v>
                </c:pt>
                <c:pt idx="1">
                  <c:v>16</c:v>
                </c:pt>
                <c:pt idx="2">
                  <c:v>8</c:v>
                </c:pt>
                <c:pt idx="3">
                  <c:v>3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B1B12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image" Target="../media/image-1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image" Target="../media/image-2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image" Target="../media/image-24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image" Target="../media/image-2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image" Target="../media/image-28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jpg"/><Relationship Id="rId2" Type="http://schemas.openxmlformats.org/officeDocument/2006/relationships/image" Target="../media/image-29-2.jpg"/><Relationship Id="rId3" Type="http://schemas.openxmlformats.org/officeDocument/2006/relationships/image" Target="../media/image-29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1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6583680" cy="6583680"/>
          </a:xfrm>
          <a:prstGeom prst="ellipse">
            <a:avLst/>
          </a:prstGeom>
          <a:solidFill>
            <a:srgbClr val="AB4E29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023360"/>
            <a:ext cx="5486400" cy="5486400"/>
          </a:xfrm>
          <a:prstGeom prst="ellipse">
            <a:avLst/>
          </a:prstGeom>
          <a:solidFill>
            <a:srgbClr val="E8A33D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5120640"/>
            <a:ext cx="3108960" cy="3108960"/>
          </a:xfrm>
          <a:prstGeom prst="ellipse">
            <a:avLst/>
          </a:prstGeom>
          <a:solidFill>
            <a:srgbClr val="E8A33D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777240"/>
            <a:ext cx="3246120" cy="420624"/>
          </a:xfrm>
          <a:prstGeom prst="roundRect">
            <a:avLst>
              <a:gd name="adj" fmla="val 50000"/>
            </a:avLst>
          </a:prstGeom>
          <a:solidFill>
            <a:srgbClr val="AB4E29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777240"/>
            <a:ext cx="3246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Y&amp;C SYSTEMS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148840"/>
            <a:ext cx="10515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SIGEPAN</a:t>
            </a:r>
            <a:endParaRPr lang="en-US" sz="6800" dirty="0"/>
          </a:p>
        </p:txBody>
      </p:sp>
      <p:sp>
        <p:nvSpPr>
          <p:cNvPr id="8" name="Text 6"/>
          <p:cNvSpPr/>
          <p:nvPr/>
        </p:nvSpPr>
        <p:spPr>
          <a:xfrm>
            <a:off x="822960" y="3401568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Integral de Gestión para Panaderías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39776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8B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+ POS  —  Django  ·  MySQL  ·  Bootstrap / AdminLTE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50749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César Campos   ·   Yilbert Fernández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22960" y="5486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académico de graduación — Defensa final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899855" y="62636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9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de agosto de 2026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8B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SIGEPAN  ·  Y&amp;C SYSTEMS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911535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8B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34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B4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1B1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Contenido de la presentación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12064" cy="512064"/>
          </a:xfrm>
          <a:prstGeom prst="ellipse">
            <a:avLst/>
          </a:prstGeom>
          <a:solidFill>
            <a:srgbClr val="AB4E2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8308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34440" y="1764792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y objetivo del proyecto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862072"/>
            <a:ext cx="512064" cy="512064"/>
          </a:xfrm>
          <a:prstGeom prst="ellipse">
            <a:avLst/>
          </a:prstGeom>
          <a:solidFill>
            <a:srgbClr val="AB4E29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86207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34440" y="2843784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del sistema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941064"/>
            <a:ext cx="512064" cy="512064"/>
          </a:xfrm>
          <a:prstGeom prst="ellipse">
            <a:avLst/>
          </a:prstGeom>
          <a:solidFill>
            <a:srgbClr val="AB4E29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9410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34440" y="3922776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y modelo de roles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5020056"/>
            <a:ext cx="512064" cy="512064"/>
          </a:xfrm>
          <a:prstGeom prst="ellipse">
            <a:avLst/>
          </a:prstGeom>
          <a:solidFill>
            <a:srgbClr val="AB4E29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502005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34440" y="5001768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Recorrido funcional por módulos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309360" y="1783080"/>
            <a:ext cx="512064" cy="512064"/>
          </a:xfrm>
          <a:prstGeom prst="ellipse">
            <a:avLst/>
          </a:prstGeom>
          <a:solidFill>
            <a:srgbClr val="AB4E29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178308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995160" y="1764792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y auditoría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309360" y="2862072"/>
            <a:ext cx="512064" cy="512064"/>
          </a:xfrm>
          <a:prstGeom prst="ellipse">
            <a:avLst/>
          </a:prstGeom>
          <a:solidFill>
            <a:srgbClr val="AB4E29"/>
          </a:solidFill>
          <a:ln/>
        </p:spPr>
      </p:sp>
      <p:sp>
        <p:nvSpPr>
          <p:cNvPr id="20" name="Text 18"/>
          <p:cNvSpPr/>
          <p:nvPr/>
        </p:nvSpPr>
        <p:spPr>
          <a:xfrm>
            <a:off x="6309360" y="286207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995160" y="2843784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 Cajero: control de acceso en acción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309360" y="3941064"/>
            <a:ext cx="512064" cy="512064"/>
          </a:xfrm>
          <a:prstGeom prst="ellipse">
            <a:avLst/>
          </a:prstGeom>
          <a:solidFill>
            <a:srgbClr val="AB4E29"/>
          </a:solidFill>
          <a:ln/>
        </p:spPr>
      </p:sp>
      <p:sp>
        <p:nvSpPr>
          <p:cNvPr id="23" name="Text 21"/>
          <p:cNvSpPr/>
          <p:nvPr/>
        </p:nvSpPr>
        <p:spPr>
          <a:xfrm>
            <a:off x="6309360" y="39410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995160" y="3922776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 de requerimientos funcionales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309360" y="5020056"/>
            <a:ext cx="512064" cy="512064"/>
          </a:xfrm>
          <a:prstGeom prst="ellipse">
            <a:avLst/>
          </a:prstGeom>
          <a:solidFill>
            <a:srgbClr val="AB4E29"/>
          </a:solidFill>
          <a:ln/>
        </p:spPr>
      </p:sp>
      <p:sp>
        <p:nvSpPr>
          <p:cNvPr id="26" name="Text 24"/>
          <p:cNvSpPr/>
          <p:nvPr/>
        </p:nvSpPr>
        <p:spPr>
          <a:xfrm>
            <a:off x="6309360" y="502005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995160" y="5001768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Retos técnicos, conclusiones y trabajo futuro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SIGEPAN  ·  Y&amp;C SYSTEMS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911535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B4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1B1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El problema y el objetivo del proyecto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595360" y="3017520"/>
            <a:ext cx="4572000" cy="4572000"/>
          </a:xfrm>
          <a:prstGeom prst="ellipse">
            <a:avLst/>
          </a:prstGeom>
          <a:solidFill>
            <a:srgbClr val="E8A33D">
              <a:alpha val="1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B4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057400"/>
            <a:ext cx="512064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35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inventario y ventas llevado en papel o Excel, sin trazabilidad real.</a:t>
            </a:r>
            <a:endParaRPr lang="en-US" sz="135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35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Cuadres de caja manuales, propensos a error y sin arqueo verificable.</a:t>
            </a:r>
            <a:endParaRPr lang="en-US" sz="135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35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Mermas y ajustes de stock sin registro: no se sabe a dónde se va el producto.</a:t>
            </a:r>
            <a:endParaRPr lang="en-US" sz="135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35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tributarios y de utilidad armados a mano, sin una fuente única de datos.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309360" y="16916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B4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OBJETIVO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309360" y="2057400"/>
            <a:ext cx="5303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un ERP/POS integral para panaderías que centralice toda la operación en un solo sistema.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309360" y="2971800"/>
            <a:ext cx="53035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35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sistema para compras, inventario, ventas (POS), caja y reportes.</a:t>
            </a:r>
            <a:endParaRPr lang="en-US" sz="135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35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acceso por rol: Administrador y Cajero, con permisos por módulo.</a:t>
            </a:r>
            <a:endParaRPr lang="en-US" sz="135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35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de cada operación crítica: quién, qué y cuándo.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SIGEPAN  ·  Y&amp;C SYSTEMS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11535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B4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1B1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Django + MySQL + Bootstrap / AdminLTE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3300984" cy="2011680"/>
          </a:xfrm>
          <a:prstGeom prst="roundRect">
            <a:avLst>
              <a:gd name="adj" fmla="val 4545"/>
            </a:avLst>
          </a:prstGeom>
          <a:solidFill>
            <a:srgbClr val="F3EFE8"/>
          </a:solidFill>
          <a:ln w="15875">
            <a:solidFill>
              <a:srgbClr val="AB4E2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560320"/>
            <a:ext cx="2843784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AB4E29"/>
                </a:solidFill>
              </a:rPr>
              <a:t>CLIENTE</a:t>
            </a: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B1B12"/>
                </a:solidFill>
              </a:rPr>
              <a:t>Navegador Web</a:t>
            </a: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B1B12"/>
                </a:solidFill>
              </a:rPr>
              <a:t>Bootstrap 5 + AdminLTE3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B1B12"/>
                </a:solidFill>
              </a:rPr>
              <a:t>Templates Django + Tabulator.js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215384" y="1920240"/>
            <a:ext cx="3749040" cy="2743200"/>
          </a:xfrm>
          <a:prstGeom prst="roundRect">
            <a:avLst>
              <a:gd name="adj" fmla="val 3333"/>
            </a:avLst>
          </a:prstGeom>
          <a:solidFill>
            <a:srgbClr val="AB4E29"/>
          </a:solidFill>
          <a:ln/>
          <a:effectLst>
            <a:outerShdw sx="100000" sy="100000" kx="0" ky="0" algn="bl" rotWithShape="0" blurRad="101600" dist="38100" dir="5400000">
              <a:srgbClr val="1A1008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489704" y="2240280"/>
            <a:ext cx="32004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FFFFFF"/>
                </a:solidFill>
              </a:rPr>
              <a:t>SERVIDOR (Django)</a:t>
            </a:r>
            <a:endParaRPr lang="en-US" sz="160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FFFFF"/>
                </a:solidFill>
              </a:rPr>
              <a:t>Views  →  Services  →  Repository</a:t>
            </a:r>
            <a:endParaRPr lang="en-US" sz="16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F4E3D3"/>
                </a:solidFill>
              </a:rPr>
              <a:t>Reglas de negocio separadas del acceso a datos</a:t>
            </a:r>
            <a:endParaRPr lang="en-US" sz="16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4E3D3"/>
                </a:solidFill>
              </a:rPr>
              <a:t>Auditoría (registrar_log) en cada operación crítica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330184" y="2286000"/>
            <a:ext cx="3310128" cy="2011680"/>
          </a:xfrm>
          <a:prstGeom prst="roundRect">
            <a:avLst>
              <a:gd name="adj" fmla="val 4545"/>
            </a:avLst>
          </a:prstGeom>
          <a:solidFill>
            <a:srgbClr val="F3EFE8"/>
          </a:solidFill>
          <a:ln w="15875">
            <a:solidFill>
              <a:srgbClr val="AB4E2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58784" y="2560320"/>
            <a:ext cx="2852928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AB4E29"/>
                </a:solidFill>
              </a:rPr>
              <a:t>BASE DE DATOS</a:t>
            </a: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B1B12"/>
                </a:solidFill>
              </a:rPr>
              <a:t>MySQL</a:t>
            </a: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B1B12"/>
                </a:solidFill>
              </a:rPr>
              <a:t>Database First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B1B12"/>
                </a:solidFill>
              </a:rPr>
              <a:t>Migraciones Django sincronizadas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849624" y="3291840"/>
            <a:ext cx="365760" cy="914"/>
          </a:xfrm>
          <a:prstGeom prst="line">
            <a:avLst/>
          </a:prstGeom>
          <a:noFill/>
          <a:ln w="31750">
            <a:solidFill>
              <a:srgbClr val="6E5B4C"/>
            </a:solidFill>
            <a:prstDash val="solid"/>
            <a:headEnd type="triangl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964424" y="3291840"/>
            <a:ext cx="365760" cy="914"/>
          </a:xfrm>
          <a:prstGeom prst="line">
            <a:avLst/>
          </a:prstGeom>
          <a:noFill/>
          <a:ln w="31750">
            <a:solidFill>
              <a:srgbClr val="6E5B4C"/>
            </a:solidFill>
            <a:prstDash val="solid"/>
            <a:headEnd type="triangl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3529584" y="2907792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E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7964424" y="2907792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E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ORM/SQL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48640" y="461772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C3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Cliente / Servidor — separación clara entre presentación, lógica de negocio y persistencia.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525780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Service/Repository extraída en Ventas, Inventario, Compras, Caja, Mermas y Ajustes.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Migración completa de jQuery DataTables a Tabulator.js en las tablas de listado.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operación crítica (crear, editar, anular) queda registrada en bitácora.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SIGEPAN  ·  Y&amp;C SYSTEMS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911535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34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B4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1B1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Modelo de roles y matriz de permisos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989527" y="1719072"/>
            <a:ext cx="7717536" cy="3777568"/>
          </a:xfrm>
          <a:prstGeom prst="roundRect">
            <a:avLst>
              <a:gd name="adj" fmla="val 1694"/>
            </a:avLst>
          </a:prstGeom>
          <a:solidFill>
            <a:srgbClr val="FFFFFF"/>
          </a:solidFill>
          <a:ln w="12700">
            <a:solidFill>
              <a:srgbClr val="E3D6C4"/>
            </a:solidFill>
            <a:prstDash val="solid"/>
          </a:ln>
          <a:effectLst>
            <a:outerShdw sx="100000" sy="100000" kx="0" ky="0" algn="bl" rotWithShape="0" blurRad="114300" dist="38100" dir="5400000">
              <a:srgbClr val="1A1008">
                <a:alpha val="32000"/>
              </a:srgbClr>
            </a:outerShdw>
          </a:effectLst>
        </p:spPr>
      </p:sp>
      <p:pic>
        <p:nvPicPr>
          <p:cNvPr id="5" name="Image 0" descr="/sessions/kind-peaceful-rubin/mnt/outputs/shots/admin_22_rol_permiso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53535" y="1783080"/>
            <a:ext cx="7589520" cy="364955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539935" y="5578936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AB4E29"/>
          </a:solidFill>
          <a:ln/>
        </p:spPr>
      </p:sp>
      <p:sp>
        <p:nvSpPr>
          <p:cNvPr id="7" name="Text 4"/>
          <p:cNvSpPr/>
          <p:nvPr/>
        </p:nvSpPr>
        <p:spPr>
          <a:xfrm>
            <a:off x="9539935" y="5578936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RF-007 · 100%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1737360"/>
            <a:ext cx="3184855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roles: Administrador (acceso total) y Cajero (solo Caja / POS).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permisos por módulo y acción: Consultar, Crear, Modificar.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RolPermisoService.actualizar_permisos aplica los cambios de forma transaccional.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real del control de acceso, con evidencia en bitácora (más adelante).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SIGEPAN  ·  Y&amp;C SYSTEMS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911535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34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B4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AL SISTEMA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1B1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Login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989527" y="1719072"/>
            <a:ext cx="7717536" cy="3777568"/>
          </a:xfrm>
          <a:prstGeom prst="roundRect">
            <a:avLst>
              <a:gd name="adj" fmla="val 1694"/>
            </a:avLst>
          </a:prstGeom>
          <a:solidFill>
            <a:srgbClr val="FFFFFF"/>
          </a:solidFill>
          <a:ln w="12700">
            <a:solidFill>
              <a:srgbClr val="E3D6C4"/>
            </a:solidFill>
            <a:prstDash val="solid"/>
          </a:ln>
          <a:effectLst>
            <a:outerShdw sx="100000" sy="100000" kx="0" ky="0" algn="bl" rotWithShape="0" blurRad="114300" dist="38100" dir="5400000">
              <a:srgbClr val="1A1008">
                <a:alpha val="32000"/>
              </a:srgbClr>
            </a:outerShdw>
          </a:effectLst>
        </p:spPr>
      </p:sp>
      <p:pic>
        <p:nvPicPr>
          <p:cNvPr id="5" name="Image 0" descr="/sessions/kind-peaceful-rubin/mnt/outputs/shots/admin_00_logi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53535" y="1783080"/>
            <a:ext cx="7589520" cy="364955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539935" y="5578936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AB4E29"/>
          </a:solidFill>
          <a:ln/>
        </p:spPr>
      </p:sp>
      <p:sp>
        <p:nvSpPr>
          <p:cNvPr id="7" name="Text 4"/>
          <p:cNvSpPr/>
          <p:nvPr/>
        </p:nvSpPr>
        <p:spPr>
          <a:xfrm>
            <a:off x="9539935" y="5578936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RF-005 · 90%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1737360"/>
            <a:ext cx="3184855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sesión válida, ningún módulo del sistema es accesible.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Contraseñas con hash (make_password / check_password), nunca en texto plano.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Recuperación de contraseña con token firmado, expira en 30 minutos.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SIGEPAN  ·  Y&amp;C SYSTEMS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911535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34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B4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GERENCIAL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1B1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Dashboard del Administrador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989527" y="1719072"/>
            <a:ext cx="7717536" cy="3777568"/>
          </a:xfrm>
          <a:prstGeom prst="roundRect">
            <a:avLst>
              <a:gd name="adj" fmla="val 1694"/>
            </a:avLst>
          </a:prstGeom>
          <a:solidFill>
            <a:srgbClr val="FFFFFF"/>
          </a:solidFill>
          <a:ln w="12700">
            <a:solidFill>
              <a:srgbClr val="E3D6C4"/>
            </a:solidFill>
            <a:prstDash val="solid"/>
          </a:ln>
          <a:effectLst>
            <a:outerShdw sx="100000" sy="100000" kx="0" ky="0" algn="bl" rotWithShape="0" blurRad="114300" dist="38100" dir="5400000">
              <a:srgbClr val="1A1008">
                <a:alpha val="32000"/>
              </a:srgbClr>
            </a:outerShdw>
          </a:effectLst>
        </p:spPr>
      </p:sp>
      <p:pic>
        <p:nvPicPr>
          <p:cNvPr id="5" name="Image 0" descr="/sessions/kind-peaceful-rubin/mnt/outputs/shots/admin_01_dashboar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53535" y="1783080"/>
            <a:ext cx="7589520" cy="364955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539935" y="5578936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AB4E29"/>
          </a:solidFill>
          <a:ln/>
        </p:spPr>
      </p:sp>
      <p:sp>
        <p:nvSpPr>
          <p:cNvPr id="7" name="Text 4"/>
          <p:cNvSpPr/>
          <p:nvPr/>
        </p:nvSpPr>
        <p:spPr>
          <a:xfrm>
            <a:off x="9539935" y="5578936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RF-020 · 85%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1737360"/>
            <a:ext cx="3184855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en tiempo real: ventas del día, estado de caja, alertas de mermas.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Accesos rápidos a los módulos de mayor uso diario.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punto de control gerencial al iniciar sesión.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SIGEPAN  ·  Y&amp;C SYSTEMS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911535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34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B4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— CATÁLOGO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1B1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Gestión de Productos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989527" y="1719072"/>
            <a:ext cx="7717536" cy="3777568"/>
          </a:xfrm>
          <a:prstGeom prst="roundRect">
            <a:avLst>
              <a:gd name="adj" fmla="val 1694"/>
            </a:avLst>
          </a:prstGeom>
          <a:solidFill>
            <a:srgbClr val="FFFFFF"/>
          </a:solidFill>
          <a:ln w="12700">
            <a:solidFill>
              <a:srgbClr val="E3D6C4"/>
            </a:solidFill>
            <a:prstDash val="solid"/>
          </a:ln>
          <a:effectLst>
            <a:outerShdw sx="100000" sy="100000" kx="0" ky="0" algn="bl" rotWithShape="0" blurRad="114300" dist="38100" dir="5400000">
              <a:srgbClr val="1A1008">
                <a:alpha val="32000"/>
              </a:srgbClr>
            </a:outerShdw>
          </a:effectLst>
        </p:spPr>
      </p:sp>
      <p:pic>
        <p:nvPicPr>
          <p:cNvPr id="5" name="Image 0" descr="/sessions/kind-peaceful-rubin/mnt/outputs/shots/admin_02_producto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53535" y="1783080"/>
            <a:ext cx="7589520" cy="364955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539935" y="5578936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AB4E29"/>
          </a:solidFill>
          <a:ln/>
        </p:spPr>
      </p:sp>
      <p:sp>
        <p:nvSpPr>
          <p:cNvPr id="7" name="Text 4"/>
          <p:cNvSpPr/>
          <p:nvPr/>
        </p:nvSpPr>
        <p:spPr>
          <a:xfrm>
            <a:off x="9539935" y="5578936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RF-011 · 91%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1737360"/>
            <a:ext cx="3184855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completo, con auditoría de cada creación, edición y baja.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de venta calculado siempre en el servidor, nunca confiado al navegador.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unidades de medida estandarizadas (unidad, kg, libra, paquete, caja, bolsa...).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SIGEPAN  ·  Y&amp;C SYSTEMS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911535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34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B4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— CATÁLOGO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1B1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Gestión de Categorías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989527" y="1719072"/>
            <a:ext cx="7717536" cy="3777568"/>
          </a:xfrm>
          <a:prstGeom prst="roundRect">
            <a:avLst>
              <a:gd name="adj" fmla="val 1694"/>
            </a:avLst>
          </a:prstGeom>
          <a:solidFill>
            <a:srgbClr val="FFFFFF"/>
          </a:solidFill>
          <a:ln w="12700">
            <a:solidFill>
              <a:srgbClr val="E3D6C4"/>
            </a:solidFill>
            <a:prstDash val="solid"/>
          </a:ln>
          <a:effectLst>
            <a:outerShdw sx="100000" sy="100000" kx="0" ky="0" algn="bl" rotWithShape="0" blurRad="114300" dist="38100" dir="5400000">
              <a:srgbClr val="1A1008">
                <a:alpha val="32000"/>
              </a:srgbClr>
            </a:outerShdw>
          </a:effectLst>
        </p:spPr>
      </p:sp>
      <p:pic>
        <p:nvPicPr>
          <p:cNvPr id="5" name="Image 0" descr="/sessions/kind-peaceful-rubin/mnt/outputs/shots/admin_03_categoria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53535" y="1783080"/>
            <a:ext cx="7589520" cy="364955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539935" y="5578936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AB4E29"/>
          </a:solidFill>
          <a:ln/>
        </p:spPr>
      </p:sp>
      <p:sp>
        <p:nvSpPr>
          <p:cNvPr id="7" name="Text 4"/>
          <p:cNvSpPr/>
          <p:nvPr/>
        </p:nvSpPr>
        <p:spPr>
          <a:xfrm>
            <a:off x="9539935" y="5578936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RF-010 · 95%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1737360"/>
            <a:ext cx="3184855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 el catálogo y alimenta la navegación por pestañas del POS.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de nombres duplicados antes de guardar.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completa: creación, edición y cambio de estado.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SIGEPAN  ·  Y&amp;C SYSTEMS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911535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34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B4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— INVENTARIO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1B1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Inventario por sucursal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989527" y="1719072"/>
            <a:ext cx="7717536" cy="3777568"/>
          </a:xfrm>
          <a:prstGeom prst="roundRect">
            <a:avLst>
              <a:gd name="adj" fmla="val 1694"/>
            </a:avLst>
          </a:prstGeom>
          <a:solidFill>
            <a:srgbClr val="FFFFFF"/>
          </a:solidFill>
          <a:ln w="12700">
            <a:solidFill>
              <a:srgbClr val="E3D6C4"/>
            </a:solidFill>
            <a:prstDash val="solid"/>
          </a:ln>
          <a:effectLst>
            <a:outerShdw sx="100000" sy="100000" kx="0" ky="0" algn="bl" rotWithShape="0" blurRad="114300" dist="38100" dir="5400000">
              <a:srgbClr val="1A1008">
                <a:alpha val="32000"/>
              </a:srgbClr>
            </a:outerShdw>
          </a:effectLst>
        </p:spPr>
      </p:sp>
      <p:pic>
        <p:nvPicPr>
          <p:cNvPr id="5" name="Image 0" descr="/sessions/kind-peaceful-rubin/mnt/outputs/shots/admin_04_inventari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53535" y="1783080"/>
            <a:ext cx="7589520" cy="364955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539935" y="5578936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AB4E29"/>
          </a:solidFill>
          <a:ln/>
        </p:spPr>
      </p:sp>
      <p:sp>
        <p:nvSpPr>
          <p:cNvPr id="7" name="Text 4"/>
          <p:cNvSpPr/>
          <p:nvPr/>
        </p:nvSpPr>
        <p:spPr>
          <a:xfrm>
            <a:off x="9539935" y="5578936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RF-016 · 99%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1737360"/>
            <a:ext cx="3184855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Existencias por sucursal con alertas visuales de stock bajo el mínimo.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Restricción única producto + sucursal e integridad referencial (PROTECT).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eje que conecta compras, ventas, mermas y ajustes.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SIGEPAN  ·  Y&amp;C SYSTEMS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911535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34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B4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— INVENTARIO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1B1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Entrada de inventario y Kardex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84632" y="1764792"/>
            <a:ext cx="5385816" cy="265632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2700">
            <a:solidFill>
              <a:srgbClr val="E3D6C4"/>
            </a:solidFill>
            <a:prstDash val="solid"/>
          </a:ln>
          <a:effectLst>
            <a:outerShdw sx="100000" sy="100000" kx="0" ky="0" algn="bl" rotWithShape="0" blurRad="114300" dist="38100" dir="5400000">
              <a:srgbClr val="1A1008">
                <a:alpha val="32000"/>
              </a:srgbClr>
            </a:outerShdw>
          </a:effectLst>
        </p:spPr>
      </p:sp>
      <p:pic>
        <p:nvPicPr>
          <p:cNvPr id="5" name="Image 0" descr="/sessions/kind-peaceful-rubin/mnt/outputs/shots/admin_25_inventario_entrad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800"/>
            <a:ext cx="5257800" cy="252830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044184" y="1764792"/>
            <a:ext cx="5385816" cy="265632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2700">
            <a:solidFill>
              <a:srgbClr val="E3D6C4"/>
            </a:solidFill>
            <a:prstDash val="solid"/>
          </a:ln>
          <a:effectLst>
            <a:outerShdw sx="100000" sy="100000" kx="0" ky="0" algn="bl" rotWithShape="0" blurRad="114300" dist="38100" dir="5400000">
              <a:srgbClr val="1A1008">
                <a:alpha val="32000"/>
              </a:srgbClr>
            </a:outerShdw>
          </a:effectLst>
        </p:spPr>
      </p:sp>
      <p:pic>
        <p:nvPicPr>
          <p:cNvPr id="7" name="Image 1" descr="/sessions/kind-peaceful-rubin/mnt/outputs/shots/admin_26_inventario_movimiento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8192" y="1828800"/>
            <a:ext cx="5257800" cy="252830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8640" y="4539984"/>
            <a:ext cx="5257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B4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de Inventario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6108192" y="4539984"/>
            <a:ext cx="5257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B4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Kardex / Movimientos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548640" y="4832592"/>
            <a:ext cx="5257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ingresos de stock con trazabilidad completa.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6108192" y="4832592"/>
            <a:ext cx="5257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de cada movimiento (venta, compra, merma, ajuste), con búsqueda y paginación reales (Tabulator.js).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48640" y="5989320"/>
            <a:ext cx="11091672" cy="384048"/>
          </a:xfrm>
          <a:prstGeom prst="roundRect">
            <a:avLst>
              <a:gd name="adj" fmla="val 19048"/>
            </a:avLst>
          </a:prstGeom>
          <a:solidFill>
            <a:srgbClr val="F3EFE8"/>
          </a:solidFill>
          <a:ln/>
        </p:spPr>
      </p:sp>
      <p:sp>
        <p:nvSpPr>
          <p:cNvPr id="13" name="Text 9"/>
          <p:cNvSpPr/>
          <p:nvPr/>
        </p:nvSpPr>
        <p:spPr>
          <a:xfrm>
            <a:off x="777240" y="5989320"/>
            <a:ext cx="10607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C3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RF-016 · 99%    •    RF-028 · 85%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SIGEPAN  ·  Y&amp;C SYSTEMS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0911535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34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B4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— COMERCIAL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1B1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Gestión de Clientes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989527" y="1719072"/>
            <a:ext cx="7717536" cy="3777568"/>
          </a:xfrm>
          <a:prstGeom prst="roundRect">
            <a:avLst>
              <a:gd name="adj" fmla="val 1694"/>
            </a:avLst>
          </a:prstGeom>
          <a:solidFill>
            <a:srgbClr val="FFFFFF"/>
          </a:solidFill>
          <a:ln w="12700">
            <a:solidFill>
              <a:srgbClr val="E3D6C4"/>
            </a:solidFill>
            <a:prstDash val="solid"/>
          </a:ln>
          <a:effectLst>
            <a:outerShdw sx="100000" sy="100000" kx="0" ky="0" algn="bl" rotWithShape="0" blurRad="114300" dist="38100" dir="5400000">
              <a:srgbClr val="1A1008">
                <a:alpha val="32000"/>
              </a:srgbClr>
            </a:outerShdw>
          </a:effectLst>
        </p:spPr>
      </p:sp>
      <p:pic>
        <p:nvPicPr>
          <p:cNvPr id="5" name="Image 0" descr="/sessions/kind-peaceful-rubin/mnt/outputs/shots/admin_05_cliente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53535" y="1783080"/>
            <a:ext cx="7589520" cy="364955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539935" y="5578936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AB4E29"/>
          </a:solidFill>
          <a:ln/>
        </p:spPr>
      </p:sp>
      <p:sp>
        <p:nvSpPr>
          <p:cNvPr id="7" name="Text 4"/>
          <p:cNvSpPr/>
          <p:nvPr/>
        </p:nvSpPr>
        <p:spPr>
          <a:xfrm>
            <a:off x="9539935" y="5578936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RF-029 · 100%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1737360"/>
            <a:ext cx="3184855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Único módulo con 100% de cumplimiento verificado directamente en el código.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cliente y tipo de identificación (cédula / DIMEX).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de cliente integrada directamente al POS.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SIGEPAN  ·  Y&amp;C SYSTEMS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911535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34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B4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— COMERCIAL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1B1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Gestión de Proveedores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989527" y="1719072"/>
            <a:ext cx="7717536" cy="3777568"/>
          </a:xfrm>
          <a:prstGeom prst="roundRect">
            <a:avLst>
              <a:gd name="adj" fmla="val 1694"/>
            </a:avLst>
          </a:prstGeom>
          <a:solidFill>
            <a:srgbClr val="FFFFFF"/>
          </a:solidFill>
          <a:ln w="12700">
            <a:solidFill>
              <a:srgbClr val="E3D6C4"/>
            </a:solidFill>
            <a:prstDash val="solid"/>
          </a:ln>
          <a:effectLst>
            <a:outerShdw sx="100000" sy="100000" kx="0" ky="0" algn="bl" rotWithShape="0" blurRad="114300" dist="38100" dir="5400000">
              <a:srgbClr val="1A1008">
                <a:alpha val="32000"/>
              </a:srgbClr>
            </a:outerShdw>
          </a:effectLst>
        </p:spPr>
      </p:sp>
      <p:pic>
        <p:nvPicPr>
          <p:cNvPr id="5" name="Image 0" descr="/sessions/kind-peaceful-rubin/mnt/outputs/shots/admin_06_proveedore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53535" y="1783080"/>
            <a:ext cx="7589520" cy="36495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737360"/>
            <a:ext cx="3184855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de proveedores vinculado al módulo de Compras.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para la trazabilidad del origen de cada producto.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con auditoría y control de acceso.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SIGEPAN  ·  Y&amp;C SYSTEMS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911535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34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B4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— COMERCIAL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1B1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Gestión de Compras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989527" y="1719072"/>
            <a:ext cx="7717536" cy="3777568"/>
          </a:xfrm>
          <a:prstGeom prst="roundRect">
            <a:avLst>
              <a:gd name="adj" fmla="val 1694"/>
            </a:avLst>
          </a:prstGeom>
          <a:solidFill>
            <a:srgbClr val="FFFFFF"/>
          </a:solidFill>
          <a:ln w="12700">
            <a:solidFill>
              <a:srgbClr val="E3D6C4"/>
            </a:solidFill>
            <a:prstDash val="solid"/>
          </a:ln>
          <a:effectLst>
            <a:outerShdw sx="100000" sy="100000" kx="0" ky="0" algn="bl" rotWithShape="0" blurRad="114300" dist="38100" dir="5400000">
              <a:srgbClr val="1A1008">
                <a:alpha val="32000"/>
              </a:srgbClr>
            </a:outerShdw>
          </a:effectLst>
        </p:spPr>
      </p:sp>
      <p:pic>
        <p:nvPicPr>
          <p:cNvPr id="5" name="Image 0" descr="/sessions/kind-peaceful-rubin/mnt/outputs/shots/admin_07_compra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53535" y="1783080"/>
            <a:ext cx="7589520" cy="364955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539935" y="5578936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AB4E29"/>
          </a:solidFill>
          <a:ln/>
        </p:spPr>
      </p:sp>
      <p:sp>
        <p:nvSpPr>
          <p:cNvPr id="7" name="Text 4"/>
          <p:cNvSpPr/>
          <p:nvPr/>
        </p:nvSpPr>
        <p:spPr>
          <a:xfrm>
            <a:off x="9539935" y="5578936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RF-030 · 95%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1737360"/>
            <a:ext cx="3184855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compras con múltiples productos por documento.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CompraService transaccional: cada compra genera entrada de inventario automática.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Anulación de compras con reintegro correcto de existencias.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SIGEPAN  ·  Y&amp;C SYSTEMS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911535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34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B4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NÚCLEO DEL SISTEMA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1B1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Punto de Venta (POS)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806647" y="1719072"/>
            <a:ext cx="7900416" cy="3865509"/>
          </a:xfrm>
          <a:prstGeom prst="roundRect">
            <a:avLst>
              <a:gd name="adj" fmla="val 1656"/>
            </a:avLst>
          </a:prstGeom>
          <a:solidFill>
            <a:srgbClr val="FFFFFF"/>
          </a:solidFill>
          <a:ln w="12700">
            <a:solidFill>
              <a:srgbClr val="E3D6C4"/>
            </a:solidFill>
            <a:prstDash val="solid"/>
          </a:ln>
          <a:effectLst>
            <a:outerShdw sx="100000" sy="100000" kx="0" ky="0" algn="bl" rotWithShape="0" blurRad="114300" dist="38100" dir="5400000">
              <a:srgbClr val="1A1008">
                <a:alpha val="32000"/>
              </a:srgbClr>
            </a:outerShdw>
          </a:effectLst>
        </p:spPr>
      </p:sp>
      <p:pic>
        <p:nvPicPr>
          <p:cNvPr id="5" name="Image 0" descr="/sessions/kind-peaceful-rubin/mnt/outputs/shots/admin_10_pos_crear_vent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70655" y="1783080"/>
            <a:ext cx="7772400" cy="373749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539935" y="5666877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AB4E29"/>
          </a:solidFill>
          <a:ln/>
        </p:spPr>
      </p:sp>
      <p:sp>
        <p:nvSpPr>
          <p:cNvPr id="7" name="Text 4"/>
          <p:cNvSpPr/>
          <p:nvPr/>
        </p:nvSpPr>
        <p:spPr>
          <a:xfrm>
            <a:off x="9539935" y="5666877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RF-012 · 98%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1737360"/>
            <a:ext cx="3001975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35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de producto por texto o por cuadrícula de categorías.</a:t>
            </a:r>
            <a:endParaRPr lang="en-US" sz="135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35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Carrito en JavaScript enviado como un único JSON al servidor (procesar_venta).</a:t>
            </a:r>
            <a:endParaRPr lang="en-US" sz="135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35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Precio, impuesto y stock se recalculan y validan siempre en el servidor.</a:t>
            </a:r>
            <a:endParaRPr lang="en-US" sz="135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35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Soporta pago mixto: varios métodos de pago en una misma venta.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SIGEPAN  ·  Y&amp;C SYSTEMS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911535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34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B4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1B1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Lista de ventas y ventas pendientes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84632" y="1764792"/>
            <a:ext cx="5385816" cy="265632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2700">
            <a:solidFill>
              <a:srgbClr val="E3D6C4"/>
            </a:solidFill>
            <a:prstDash val="solid"/>
          </a:ln>
          <a:effectLst>
            <a:outerShdw sx="100000" sy="100000" kx="0" ky="0" algn="bl" rotWithShape="0" blurRad="114300" dist="38100" dir="5400000">
              <a:srgbClr val="1A1008">
                <a:alpha val="32000"/>
              </a:srgbClr>
            </a:outerShdw>
          </a:effectLst>
        </p:spPr>
      </p:sp>
      <p:pic>
        <p:nvPicPr>
          <p:cNvPr id="5" name="Image 0" descr="/sessions/kind-peaceful-rubin/mnt/outputs/shots/admin_08_lista_venta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800"/>
            <a:ext cx="5257800" cy="252830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044184" y="1764792"/>
            <a:ext cx="5385816" cy="265632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2700">
            <a:solidFill>
              <a:srgbClr val="E3D6C4"/>
            </a:solidFill>
            <a:prstDash val="solid"/>
          </a:ln>
          <a:effectLst>
            <a:outerShdw sx="100000" sy="100000" kx="0" ky="0" algn="bl" rotWithShape="0" blurRad="114300" dist="38100" dir="5400000">
              <a:srgbClr val="1A1008">
                <a:alpha val="32000"/>
              </a:srgbClr>
            </a:outerShdw>
          </a:effectLst>
        </p:spPr>
      </p:sp>
      <p:pic>
        <p:nvPicPr>
          <p:cNvPr id="7" name="Image 1" descr="/sessions/kind-peaceful-rubin/mnt/outputs/shots/admin_09_ventas_pendiente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8192" y="1828800"/>
            <a:ext cx="5257800" cy="252830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8640" y="4539984"/>
            <a:ext cx="5257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B4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Ventas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6108192" y="4539984"/>
            <a:ext cx="5257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B4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 Pendientes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548640" y="4832592"/>
            <a:ext cx="5257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de ventas diarias, con el filtro de fecha corregido (zona horaria Costa Rica).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6108192" y="4832592"/>
            <a:ext cx="5257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 pausadas sin tocar inventario; se retoman con el carrito completo.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48640" y="5989320"/>
            <a:ext cx="11091672" cy="384048"/>
          </a:xfrm>
          <a:prstGeom prst="roundRect">
            <a:avLst>
              <a:gd name="adj" fmla="val 19048"/>
            </a:avLst>
          </a:prstGeom>
          <a:solidFill>
            <a:srgbClr val="F3EFE8"/>
          </a:solidFill>
          <a:ln/>
        </p:spPr>
      </p:sp>
      <p:sp>
        <p:nvSpPr>
          <p:cNvPr id="13" name="Text 9"/>
          <p:cNvSpPr/>
          <p:nvPr/>
        </p:nvSpPr>
        <p:spPr>
          <a:xfrm>
            <a:off x="777240" y="5989320"/>
            <a:ext cx="10607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C3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RF-012 · 98%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SIGEPAN  ·  Y&amp;C SYSTEMS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0911535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34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B4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1B1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Detalle de venta, vuelto y comprobante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806647" y="1719072"/>
            <a:ext cx="7900416" cy="3865509"/>
          </a:xfrm>
          <a:prstGeom prst="roundRect">
            <a:avLst>
              <a:gd name="adj" fmla="val 1656"/>
            </a:avLst>
          </a:prstGeom>
          <a:solidFill>
            <a:srgbClr val="FFFFFF"/>
          </a:solidFill>
          <a:ln w="12700">
            <a:solidFill>
              <a:srgbClr val="E3D6C4"/>
            </a:solidFill>
            <a:prstDash val="solid"/>
          </a:ln>
          <a:effectLst>
            <a:outerShdw sx="100000" sy="100000" kx="0" ky="0" algn="bl" rotWithShape="0" blurRad="114300" dist="38100" dir="5400000">
              <a:srgbClr val="1A1008">
                <a:alpha val="32000"/>
              </a:srgbClr>
            </a:outerShdw>
          </a:effectLst>
        </p:spPr>
      </p:sp>
      <p:pic>
        <p:nvPicPr>
          <p:cNvPr id="5" name="Image 0" descr="/sessions/kind-peaceful-rubin/mnt/outputs/shots/admin_13_detalle_vent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70655" y="1783080"/>
            <a:ext cx="7772400" cy="373749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539935" y="5666877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AB4E29"/>
          </a:solidFill>
          <a:ln/>
        </p:spPr>
      </p:sp>
      <p:sp>
        <p:nvSpPr>
          <p:cNvPr id="7" name="Text 4"/>
          <p:cNvSpPr/>
          <p:nvPr/>
        </p:nvSpPr>
        <p:spPr>
          <a:xfrm>
            <a:off x="9539935" y="5666877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RF-012 / RF-013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1737360"/>
            <a:ext cx="3001975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automático de vuelto al cobrar en efectivo.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Comprobante en PDF real (reportlab), con el símbolo ₡ y marca de la panadería.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Envío del comprobante por correo electrónico.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SIGEPAN  ·  Y&amp;C SYSTEMS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911535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34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B4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CAJA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1B1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Gestión de Cajas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989527" y="1719072"/>
            <a:ext cx="7717536" cy="3777568"/>
          </a:xfrm>
          <a:prstGeom prst="roundRect">
            <a:avLst>
              <a:gd name="adj" fmla="val 1694"/>
            </a:avLst>
          </a:prstGeom>
          <a:solidFill>
            <a:srgbClr val="FFFFFF"/>
          </a:solidFill>
          <a:ln w="12700">
            <a:solidFill>
              <a:srgbClr val="E3D6C4"/>
            </a:solidFill>
            <a:prstDash val="solid"/>
          </a:ln>
          <a:effectLst>
            <a:outerShdw sx="100000" sy="100000" kx="0" ky="0" algn="bl" rotWithShape="0" blurRad="114300" dist="38100" dir="5400000">
              <a:srgbClr val="1A1008">
                <a:alpha val="32000"/>
              </a:srgbClr>
            </a:outerShdw>
          </a:effectLst>
        </p:spPr>
      </p:sp>
      <p:pic>
        <p:nvPicPr>
          <p:cNvPr id="5" name="Image 0" descr="/sessions/kind-peaceful-rubin/mnt/outputs/shots/admin_11_lista_caja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53535" y="1783080"/>
            <a:ext cx="7589520" cy="364955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539935" y="5578936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AB4E29"/>
          </a:solidFill>
          <a:ln/>
        </p:spPr>
      </p:sp>
      <p:sp>
        <p:nvSpPr>
          <p:cNvPr id="7" name="Text 4"/>
          <p:cNvSpPr/>
          <p:nvPr/>
        </p:nvSpPr>
        <p:spPr>
          <a:xfrm>
            <a:off x="9539935" y="5578936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RF-014 · 92%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1737360"/>
            <a:ext cx="3184855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cajas registradas, cada una con su propio ícono.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Activar / desactivar caja exige POST + CSRF (antes bastaba con visitar un link).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caja con apertura activa ya no se puede desactivar (bug real corregido).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SIGEPAN  ·  Y&amp;C SYSTEMS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911535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34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B4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CAJA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1B1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Administración de Caja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989527" y="1719072"/>
            <a:ext cx="7717536" cy="3777568"/>
          </a:xfrm>
          <a:prstGeom prst="roundRect">
            <a:avLst>
              <a:gd name="adj" fmla="val 1694"/>
            </a:avLst>
          </a:prstGeom>
          <a:solidFill>
            <a:srgbClr val="FFFFFF"/>
          </a:solidFill>
          <a:ln w="12700">
            <a:solidFill>
              <a:srgbClr val="E3D6C4"/>
            </a:solidFill>
            <a:prstDash val="solid"/>
          </a:ln>
          <a:effectLst>
            <a:outerShdw sx="100000" sy="100000" kx="0" ky="0" algn="bl" rotWithShape="0" blurRad="114300" dist="38100" dir="5400000">
              <a:srgbClr val="1A1008">
                <a:alpha val="32000"/>
              </a:srgbClr>
            </a:outerShdw>
          </a:effectLst>
        </p:spPr>
      </p:sp>
      <p:pic>
        <p:nvPicPr>
          <p:cNvPr id="5" name="Image 0" descr="/sessions/kind-peaceful-rubin/mnt/outputs/shots/admin_12_administrar_caj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53535" y="1783080"/>
            <a:ext cx="7589520" cy="364955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539935" y="5578936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AB4E29"/>
          </a:solidFill>
          <a:ln/>
        </p:spPr>
      </p:sp>
      <p:sp>
        <p:nvSpPr>
          <p:cNvPr id="7" name="Text 4"/>
          <p:cNvSpPr/>
          <p:nvPr/>
        </p:nvSpPr>
        <p:spPr>
          <a:xfrm>
            <a:off x="9539935" y="5578936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RF-015 · 92%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1737360"/>
            <a:ext cx="3184855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Apertura de caja con turno obligatorio.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Movimientos de caja (ingresos / egresos) con auditoría.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transaccional con arqueo (CierreCajaService.validar_puede_cerrar).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SIGEPAN  ·  Y&amp;C SYSTEMS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911535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34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B4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1B1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Mermas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989527" y="1719072"/>
            <a:ext cx="7717536" cy="3777568"/>
          </a:xfrm>
          <a:prstGeom prst="roundRect">
            <a:avLst>
              <a:gd name="adj" fmla="val 1694"/>
            </a:avLst>
          </a:prstGeom>
          <a:solidFill>
            <a:srgbClr val="FFFFFF"/>
          </a:solidFill>
          <a:ln w="12700">
            <a:solidFill>
              <a:srgbClr val="E3D6C4"/>
            </a:solidFill>
            <a:prstDash val="solid"/>
          </a:ln>
          <a:effectLst>
            <a:outerShdw sx="100000" sy="100000" kx="0" ky="0" algn="bl" rotWithShape="0" blurRad="114300" dist="38100" dir="5400000">
              <a:srgbClr val="1A1008">
                <a:alpha val="32000"/>
              </a:srgbClr>
            </a:outerShdw>
          </a:effectLst>
        </p:spPr>
      </p:sp>
      <p:pic>
        <p:nvPicPr>
          <p:cNvPr id="5" name="Image 0" descr="/sessions/kind-peaceful-rubin/mnt/outputs/shots/admin_14_merma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53535" y="1783080"/>
            <a:ext cx="7589520" cy="364955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539935" y="5578936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AB4E29"/>
          </a:solidFill>
          <a:ln/>
        </p:spPr>
      </p:sp>
      <p:sp>
        <p:nvSpPr>
          <p:cNvPr id="7" name="Text 4"/>
          <p:cNvSpPr/>
          <p:nvPr/>
        </p:nvSpPr>
        <p:spPr>
          <a:xfrm>
            <a:off x="9539935" y="5578936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RF-017 · 92%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1737360"/>
            <a:ext cx="3184855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pérdidas de producto, con tipo de movimiento MERMA en el Kardex.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por producto y por rango de fechas.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Queda pendiente un reporte dedicado (hoy: listado con filtros).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SIGEPAN  ·  Y&amp;C SYSTEMS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911535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34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B4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1B1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Ajustes de Inventario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989527" y="1719072"/>
            <a:ext cx="7717536" cy="3777568"/>
          </a:xfrm>
          <a:prstGeom prst="roundRect">
            <a:avLst>
              <a:gd name="adj" fmla="val 1694"/>
            </a:avLst>
          </a:prstGeom>
          <a:solidFill>
            <a:srgbClr val="FFFFFF"/>
          </a:solidFill>
          <a:ln w="12700">
            <a:solidFill>
              <a:srgbClr val="E3D6C4"/>
            </a:solidFill>
            <a:prstDash val="solid"/>
          </a:ln>
          <a:effectLst>
            <a:outerShdw sx="100000" sy="100000" kx="0" ky="0" algn="bl" rotWithShape="0" blurRad="114300" dist="38100" dir="5400000">
              <a:srgbClr val="1A1008">
                <a:alpha val="32000"/>
              </a:srgbClr>
            </a:outerShdw>
          </a:effectLst>
        </p:spPr>
      </p:sp>
      <p:pic>
        <p:nvPicPr>
          <p:cNvPr id="5" name="Image 0" descr="/sessions/kind-peaceful-rubin/mnt/outputs/shots/admin_15_ajustes_inventari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53535" y="1783080"/>
            <a:ext cx="7589520" cy="364955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539935" y="5578936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AB4E29"/>
          </a:solidFill>
          <a:ln/>
        </p:spPr>
      </p:sp>
      <p:sp>
        <p:nvSpPr>
          <p:cNvPr id="7" name="Text 4"/>
          <p:cNvSpPr/>
          <p:nvPr/>
        </p:nvSpPr>
        <p:spPr>
          <a:xfrm>
            <a:off x="9539935" y="5578936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RF-018 · 92%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1737360"/>
            <a:ext cx="3184855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Ajustes de entrada y de salida para corregir existencias.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Integrado al mismo servicio de movimientos que usan Ventas, Compras y Mermas.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SIGEPAN  ·  Y&amp;C SYSTEMS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911535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34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B4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1B1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Gastos Operativos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989527" y="1719072"/>
            <a:ext cx="7717536" cy="3777568"/>
          </a:xfrm>
          <a:prstGeom prst="roundRect">
            <a:avLst>
              <a:gd name="adj" fmla="val 1694"/>
            </a:avLst>
          </a:prstGeom>
          <a:solidFill>
            <a:srgbClr val="FFFFFF"/>
          </a:solidFill>
          <a:ln w="12700">
            <a:solidFill>
              <a:srgbClr val="E3D6C4"/>
            </a:solidFill>
            <a:prstDash val="solid"/>
          </a:ln>
          <a:effectLst>
            <a:outerShdw sx="100000" sy="100000" kx="0" ky="0" algn="bl" rotWithShape="0" blurRad="114300" dist="38100" dir="5400000">
              <a:srgbClr val="1A1008">
                <a:alpha val="32000"/>
              </a:srgbClr>
            </a:outerShdw>
          </a:effectLst>
        </p:spPr>
      </p:sp>
      <p:pic>
        <p:nvPicPr>
          <p:cNvPr id="5" name="Image 0" descr="/sessions/kind-peaceful-rubin/mnt/outputs/shots/admin_16_gastos_operativo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53535" y="1783080"/>
            <a:ext cx="7589520" cy="364955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539935" y="5578936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AB4E29"/>
          </a:solidFill>
          <a:ln/>
        </p:spPr>
      </p:sp>
      <p:sp>
        <p:nvSpPr>
          <p:cNvPr id="7" name="Text 4"/>
          <p:cNvSpPr/>
          <p:nvPr/>
        </p:nvSpPr>
        <p:spPr>
          <a:xfrm>
            <a:off x="9539935" y="5578936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RF-026 · 96%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1737360"/>
            <a:ext cx="3184855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gastos con comprobante adjunto (subida real de archivo).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 vincularse a una caja abierta.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SIGEPAN  ·  Y&amp;C SYSTEMS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911535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34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B4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1B1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Reportes de Ventas e Inventario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84632" y="1764792"/>
            <a:ext cx="5385816" cy="265632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2700">
            <a:solidFill>
              <a:srgbClr val="E3D6C4"/>
            </a:solidFill>
            <a:prstDash val="solid"/>
          </a:ln>
          <a:effectLst>
            <a:outerShdw sx="100000" sy="100000" kx="0" ky="0" algn="bl" rotWithShape="0" blurRad="114300" dist="38100" dir="5400000">
              <a:srgbClr val="1A1008">
                <a:alpha val="32000"/>
              </a:srgbClr>
            </a:outerShdw>
          </a:effectLst>
        </p:spPr>
      </p:sp>
      <p:pic>
        <p:nvPicPr>
          <p:cNvPr id="5" name="Image 0" descr="/sessions/kind-peaceful-rubin/mnt/outputs/shots/admin_17_reporte_venta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800"/>
            <a:ext cx="5257800" cy="252830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044184" y="1764792"/>
            <a:ext cx="5385816" cy="265632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2700">
            <a:solidFill>
              <a:srgbClr val="E3D6C4"/>
            </a:solidFill>
            <a:prstDash val="solid"/>
          </a:ln>
          <a:effectLst>
            <a:outerShdw sx="100000" sy="100000" kx="0" ky="0" algn="bl" rotWithShape="0" blurRad="114300" dist="38100" dir="5400000">
              <a:srgbClr val="1A1008">
                <a:alpha val="32000"/>
              </a:srgbClr>
            </a:outerShdw>
          </a:effectLst>
        </p:spPr>
      </p:sp>
      <p:pic>
        <p:nvPicPr>
          <p:cNvPr id="7" name="Image 1" descr="/sessions/kind-peaceful-rubin/mnt/outputs/shots/admin_18_reporte_inventario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8192" y="1828800"/>
            <a:ext cx="5257800" cy="252830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8640" y="4539984"/>
            <a:ext cx="5257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B4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de Ventas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6108192" y="4539984"/>
            <a:ext cx="5257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B4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de Inventario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548640" y="4832592"/>
            <a:ext cx="5257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Exportable a PDF, Excel y Google Sheets.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6108192" y="4832592"/>
            <a:ext cx="5257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Existencias y valorización por sucursal, exportable en los mismos formatos.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48640" y="5989320"/>
            <a:ext cx="11091672" cy="384048"/>
          </a:xfrm>
          <a:prstGeom prst="roundRect">
            <a:avLst>
              <a:gd name="adj" fmla="val 19048"/>
            </a:avLst>
          </a:prstGeom>
          <a:solidFill>
            <a:srgbClr val="F3EFE8"/>
          </a:solidFill>
          <a:ln/>
        </p:spPr>
      </p:sp>
      <p:sp>
        <p:nvSpPr>
          <p:cNvPr id="13" name="Text 9"/>
          <p:cNvSpPr/>
          <p:nvPr/>
        </p:nvSpPr>
        <p:spPr>
          <a:xfrm>
            <a:off x="777240" y="5989320"/>
            <a:ext cx="10607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C3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RF-019 · 80%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SIGEPAN  ·  Y&amp;C SYSTEMS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0911535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34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B4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1B1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Reporte Tributario y de Utilidad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84632" y="1764792"/>
            <a:ext cx="5385816" cy="265632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2700">
            <a:solidFill>
              <a:srgbClr val="E3D6C4"/>
            </a:solidFill>
            <a:prstDash val="solid"/>
          </a:ln>
          <a:effectLst>
            <a:outerShdw sx="100000" sy="100000" kx="0" ky="0" algn="bl" rotWithShape="0" blurRad="114300" dist="38100" dir="5400000">
              <a:srgbClr val="1A1008">
                <a:alpha val="32000"/>
              </a:srgbClr>
            </a:outerShdw>
          </a:effectLst>
        </p:spPr>
      </p:sp>
      <p:pic>
        <p:nvPicPr>
          <p:cNvPr id="5" name="Image 0" descr="/sessions/kind-peaceful-rubin/mnt/outputs/shots/admin_20_reporte_tributari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800"/>
            <a:ext cx="5257800" cy="252830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044184" y="1764792"/>
            <a:ext cx="5385816" cy="265632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2700">
            <a:solidFill>
              <a:srgbClr val="E3D6C4"/>
            </a:solidFill>
            <a:prstDash val="solid"/>
          </a:ln>
          <a:effectLst>
            <a:outerShdw sx="100000" sy="100000" kx="0" ky="0" algn="bl" rotWithShape="0" blurRad="114300" dist="38100" dir="5400000">
              <a:srgbClr val="1A1008">
                <a:alpha val="32000"/>
              </a:srgbClr>
            </a:outerShdw>
          </a:effectLst>
        </p:spPr>
      </p:sp>
      <p:pic>
        <p:nvPicPr>
          <p:cNvPr id="7" name="Image 1" descr="/sessions/kind-peaceful-rubin/mnt/outputs/shots/admin_19_reporte_utilidad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8192" y="1828800"/>
            <a:ext cx="5257800" cy="252830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8640" y="4539984"/>
            <a:ext cx="5257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B4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Tributario Mensual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6108192" y="4539984"/>
            <a:ext cx="5257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B4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de Utilidad Estimada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548640" y="4832592"/>
            <a:ext cx="5257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para la declaración de impuestos del negocio.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6108192" y="4832592"/>
            <a:ext cx="5257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 costos contra ventas para estimar la utilidad real.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48640" y="5989320"/>
            <a:ext cx="11091672" cy="384048"/>
          </a:xfrm>
          <a:prstGeom prst="roundRect">
            <a:avLst>
              <a:gd name="adj" fmla="val 19048"/>
            </a:avLst>
          </a:prstGeom>
          <a:solidFill>
            <a:srgbClr val="F3EFE8"/>
          </a:solidFill>
          <a:ln/>
        </p:spPr>
      </p:sp>
      <p:sp>
        <p:nvSpPr>
          <p:cNvPr id="13" name="Text 9"/>
          <p:cNvSpPr/>
          <p:nvPr/>
        </p:nvSpPr>
        <p:spPr>
          <a:xfrm>
            <a:off x="777240" y="5989320"/>
            <a:ext cx="10607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C3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RF-025 · 85%    •    RF-027 · 85%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SIGEPAN  ·  Y&amp;C SYSTEMS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0911535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34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B4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1B1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Gestión de Usuarios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989527" y="1719072"/>
            <a:ext cx="7717536" cy="3777568"/>
          </a:xfrm>
          <a:prstGeom prst="roundRect">
            <a:avLst>
              <a:gd name="adj" fmla="val 1694"/>
            </a:avLst>
          </a:prstGeom>
          <a:solidFill>
            <a:srgbClr val="FFFFFF"/>
          </a:solidFill>
          <a:ln w="12700">
            <a:solidFill>
              <a:srgbClr val="E3D6C4"/>
            </a:solidFill>
            <a:prstDash val="solid"/>
          </a:ln>
          <a:effectLst>
            <a:outerShdw sx="100000" sy="100000" kx="0" ky="0" algn="bl" rotWithShape="0" blurRad="114300" dist="38100" dir="5400000">
              <a:srgbClr val="1A1008">
                <a:alpha val="32000"/>
              </a:srgbClr>
            </a:outerShdw>
          </a:effectLst>
        </p:spPr>
      </p:sp>
      <p:pic>
        <p:nvPicPr>
          <p:cNvPr id="5" name="Image 0" descr="/sessions/kind-peaceful-rubin/mnt/outputs/shots/admin_21_usuario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53535" y="1783080"/>
            <a:ext cx="7589520" cy="364955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539935" y="5578936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AB4E29"/>
          </a:solidFill>
          <a:ln/>
        </p:spPr>
      </p:sp>
      <p:sp>
        <p:nvSpPr>
          <p:cNvPr id="7" name="Text 4"/>
          <p:cNvSpPr/>
          <p:nvPr/>
        </p:nvSpPr>
        <p:spPr>
          <a:xfrm>
            <a:off x="9539935" y="5578936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RF-006 · 100%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1737360"/>
            <a:ext cx="3184855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de usuarios con validaciones de negocio propias (UsuarioForm).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usuario tiene un rol asignado: Administrador o Cajero.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todo el modelo de seguridad del sistema.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SIGEPAN  ·  Y&amp;C SYSTEMS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911535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34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B4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1B1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Bitácoras: ingresos y movimientos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84632" y="1764792"/>
            <a:ext cx="5385816" cy="265632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2700">
            <a:solidFill>
              <a:srgbClr val="E3D6C4"/>
            </a:solidFill>
            <a:prstDash val="solid"/>
          </a:ln>
          <a:effectLst>
            <a:outerShdw sx="100000" sy="100000" kx="0" ky="0" algn="bl" rotWithShape="0" blurRad="114300" dist="38100" dir="5400000">
              <a:srgbClr val="1A1008">
                <a:alpha val="32000"/>
              </a:srgbClr>
            </a:outerShdw>
          </a:effectLst>
        </p:spPr>
      </p:sp>
      <p:pic>
        <p:nvPicPr>
          <p:cNvPr id="5" name="Image 0" descr="/sessions/kind-peaceful-rubin/mnt/outputs/shots/admin_23_bitacora_ingreso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800"/>
            <a:ext cx="5257800" cy="252830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044184" y="1764792"/>
            <a:ext cx="5385816" cy="265632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2700">
            <a:solidFill>
              <a:srgbClr val="E3D6C4"/>
            </a:solidFill>
            <a:prstDash val="solid"/>
          </a:ln>
          <a:effectLst>
            <a:outerShdw sx="100000" sy="100000" kx="0" ky="0" algn="bl" rotWithShape="0" blurRad="114300" dist="38100" dir="5400000">
              <a:srgbClr val="1A1008">
                <a:alpha val="32000"/>
              </a:srgbClr>
            </a:outerShdw>
          </a:effectLst>
        </p:spPr>
      </p:sp>
      <p:pic>
        <p:nvPicPr>
          <p:cNvPr id="7" name="Image 1" descr="/sessions/kind-peaceful-rubin/mnt/outputs/shots/admin_24_bitacora_movimiento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8192" y="1828800"/>
            <a:ext cx="5257800" cy="252830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8640" y="4539984"/>
            <a:ext cx="5257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B4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Bitácora de Ingresos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6108192" y="4539984"/>
            <a:ext cx="5257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B4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Bitácora de Movimientos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548640" y="4832592"/>
            <a:ext cx="5257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cada inicio y cierre de sesión, con fecha y hora.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6108192" y="4832592"/>
            <a:ext cx="5257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CREAR, MODIFICAR y ACCESO_DENEGADO — incluye un intento real de un Cajero bloqueado al querer crear una venta sin permiso.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48640" y="5989320"/>
            <a:ext cx="11091672" cy="384048"/>
          </a:xfrm>
          <a:prstGeom prst="roundRect">
            <a:avLst>
              <a:gd name="adj" fmla="val 19048"/>
            </a:avLst>
          </a:prstGeom>
          <a:solidFill>
            <a:srgbClr val="F3EFE8"/>
          </a:solidFill>
          <a:ln/>
        </p:spPr>
      </p:sp>
      <p:sp>
        <p:nvSpPr>
          <p:cNvPr id="13" name="Text 9"/>
          <p:cNvSpPr/>
          <p:nvPr/>
        </p:nvSpPr>
        <p:spPr>
          <a:xfrm>
            <a:off x="777240" y="5989320"/>
            <a:ext cx="10607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C3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control de acceso no solo está en el código: quedó demostrado funcionando en producción.   ·   RF-021 · 90%   ·   RF-022 · 90%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SIGEPAN  ·  Y&amp;C SYSTEMS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0911535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34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B4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 CAJERO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1B1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Acceso restringido por rol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806647" y="1719072"/>
            <a:ext cx="7900416" cy="3865509"/>
          </a:xfrm>
          <a:prstGeom prst="roundRect">
            <a:avLst>
              <a:gd name="adj" fmla="val 1656"/>
            </a:avLst>
          </a:prstGeom>
          <a:solidFill>
            <a:srgbClr val="FFFFFF"/>
          </a:solidFill>
          <a:ln w="12700">
            <a:solidFill>
              <a:srgbClr val="E3D6C4"/>
            </a:solidFill>
            <a:prstDash val="solid"/>
          </a:ln>
          <a:effectLst>
            <a:outerShdw sx="100000" sy="100000" kx="0" ky="0" algn="bl" rotWithShape="0" blurRad="114300" dist="38100" dir="5400000">
              <a:srgbClr val="1A1008">
                <a:alpha val="32000"/>
              </a:srgbClr>
            </a:outerShdw>
          </a:effectLst>
        </p:spPr>
      </p:sp>
      <p:pic>
        <p:nvPicPr>
          <p:cNvPr id="5" name="Image 0" descr="/sessions/kind-peaceful-rubin/mnt/outputs/shots/cajero_01_dashboar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70655" y="1783080"/>
            <a:ext cx="7772400" cy="373749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737360"/>
            <a:ext cx="3001975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sistema, mismo login: el menú se reduce automáticamente al rol.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MenuService.obtener_menu_usuario filtra las opciones según los permisos reales.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se fuerza una URL fuera de su alcance, el servidor responde ACCESO_DENEGADO (auditado).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SIGEPAN  ·  Y&amp;C SYSTEMS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911535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34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B4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 CAJERO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1B1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Operación de Caja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84632" y="1764792"/>
            <a:ext cx="5385816" cy="265632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2700">
            <a:solidFill>
              <a:srgbClr val="E3D6C4"/>
            </a:solidFill>
            <a:prstDash val="solid"/>
          </a:ln>
          <a:effectLst>
            <a:outerShdw sx="100000" sy="100000" kx="0" ky="0" algn="bl" rotWithShape="0" blurRad="114300" dist="38100" dir="5400000">
              <a:srgbClr val="1A1008">
                <a:alpha val="32000"/>
              </a:srgbClr>
            </a:outerShdw>
          </a:effectLst>
        </p:spPr>
      </p:sp>
      <p:pic>
        <p:nvPicPr>
          <p:cNvPr id="5" name="Image 0" descr="/sessions/kind-peaceful-rubin/mnt/outputs/shots/cajero_02_lista_caja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800"/>
            <a:ext cx="5257800" cy="252830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044184" y="1764792"/>
            <a:ext cx="5385816" cy="265632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2700">
            <a:solidFill>
              <a:srgbClr val="E3D6C4"/>
            </a:solidFill>
            <a:prstDash val="solid"/>
          </a:ln>
          <a:effectLst>
            <a:outerShdw sx="100000" sy="100000" kx="0" ky="0" algn="bl" rotWithShape="0" blurRad="114300" dist="38100" dir="5400000">
              <a:srgbClr val="1A1008">
                <a:alpha val="32000"/>
              </a:srgbClr>
            </a:outerShdw>
          </a:effectLst>
        </p:spPr>
      </p:sp>
      <p:pic>
        <p:nvPicPr>
          <p:cNvPr id="7" name="Image 1" descr="/sessions/kind-peaceful-rubin/mnt/outputs/shots/cajero_03_administrar_caja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8192" y="1828800"/>
            <a:ext cx="5257800" cy="252830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8640" y="4539984"/>
            <a:ext cx="5257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B4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Cajas (Cajero)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6108192" y="4539984"/>
            <a:ext cx="5257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B4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Administrar Caja (Cajero)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548640" y="4832592"/>
            <a:ext cx="5257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 pantalla que el Administrador, dentro de lo que su rol permite.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6108192" y="4832592"/>
            <a:ext cx="5257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operativo completo a su caja, sin salir de su alcance permitido.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SIGEPAN  ·  Y&amp;C SYSTEMS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0911535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34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B4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1B1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Parametrización del sistema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84632" y="1901952"/>
            <a:ext cx="3642360" cy="1817949"/>
          </a:xfrm>
          <a:prstGeom prst="roundRect">
            <a:avLst>
              <a:gd name="adj" fmla="val 3521"/>
            </a:avLst>
          </a:prstGeom>
          <a:solidFill>
            <a:srgbClr val="FFFFFF"/>
          </a:solidFill>
          <a:ln w="12700">
            <a:solidFill>
              <a:srgbClr val="E3D6C4"/>
            </a:solidFill>
            <a:prstDash val="solid"/>
          </a:ln>
          <a:effectLst>
            <a:outerShdw sx="100000" sy="100000" kx="0" ky="0" algn="bl" rotWithShape="0" blurRad="114300" dist="38100" dir="5400000">
              <a:srgbClr val="1A1008">
                <a:alpha val="32000"/>
              </a:srgbClr>
            </a:outerShdw>
          </a:effectLst>
        </p:spPr>
      </p:sp>
      <p:pic>
        <p:nvPicPr>
          <p:cNvPr id="5" name="Image 0" descr="/sessions/kind-peaceful-rubin/mnt/outputs/shots/admin_27_config_sucursale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65960"/>
            <a:ext cx="3514344" cy="168993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3820485"/>
            <a:ext cx="35143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B4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Sucursales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4094805"/>
            <a:ext cx="351434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con permisos y auditoría. RF-009 · 100%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273296" y="1901952"/>
            <a:ext cx="3642360" cy="1817949"/>
          </a:xfrm>
          <a:prstGeom prst="roundRect">
            <a:avLst>
              <a:gd name="adj" fmla="val 3521"/>
            </a:avLst>
          </a:prstGeom>
          <a:solidFill>
            <a:srgbClr val="FFFFFF"/>
          </a:solidFill>
          <a:ln w="12700">
            <a:solidFill>
              <a:srgbClr val="E3D6C4"/>
            </a:solidFill>
            <a:prstDash val="solid"/>
          </a:ln>
          <a:effectLst>
            <a:outerShdw sx="100000" sy="100000" kx="0" ky="0" algn="bl" rotWithShape="0" blurRad="114300" dist="38100" dir="5400000">
              <a:srgbClr val="1A1008">
                <a:alpha val="32000"/>
              </a:srgbClr>
            </a:outerShdw>
          </a:effectLst>
        </p:spPr>
      </p:sp>
      <p:pic>
        <p:nvPicPr>
          <p:cNvPr id="9" name="Image 1" descr="/sessions/kind-peaceful-rubin/mnt/outputs/shots/admin_28_metodos_pago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7304" y="1965960"/>
            <a:ext cx="3514344" cy="168993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337304" y="3820485"/>
            <a:ext cx="35143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B4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 de Pago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337304" y="4094805"/>
            <a:ext cx="351434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real usado por el POS; evita duplicados. RF-013 · 93%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8061960" y="1901952"/>
            <a:ext cx="3642360" cy="1817949"/>
          </a:xfrm>
          <a:prstGeom prst="roundRect">
            <a:avLst>
              <a:gd name="adj" fmla="val 3521"/>
            </a:avLst>
          </a:prstGeom>
          <a:solidFill>
            <a:srgbClr val="FFFFFF"/>
          </a:solidFill>
          <a:ln w="12700">
            <a:solidFill>
              <a:srgbClr val="E3D6C4"/>
            </a:solidFill>
            <a:prstDash val="solid"/>
          </a:ln>
          <a:effectLst>
            <a:outerShdw sx="100000" sy="100000" kx="0" ky="0" algn="bl" rotWithShape="0" blurRad="114300" dist="38100" dir="5400000">
              <a:srgbClr val="1A1008">
                <a:alpha val="32000"/>
              </a:srgbClr>
            </a:outerShdw>
          </a:effectLst>
        </p:spPr>
      </p:sp>
      <p:pic>
        <p:nvPicPr>
          <p:cNvPr id="13" name="Image 2" descr="/sessions/kind-peaceful-rubin/mnt/outputs/shots/admin_29_ayudas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5968" y="1965960"/>
            <a:ext cx="3514344" cy="168993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125968" y="3820485"/>
            <a:ext cx="35143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B4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Ayuda contextual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8125968" y="4094805"/>
            <a:ext cx="351434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Ayuda por pantalla para guiar al usuario. RF-031 · 85%</a:t>
            </a:r>
            <a:endParaRPr lang="en-US" sz="1150" dirty="0"/>
          </a:p>
        </p:txBody>
      </p:sp>
      <p:sp>
        <p:nvSpPr>
          <p:cNvPr id="16" name="Text 11"/>
          <p:cNvSpPr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SIGEPAN  ·  Y&amp;C SYSTEMS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10911535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34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B4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DEL PROYECTO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1B1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Cumplimiento de Requerimientos Funcionales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286000" cy="1554480"/>
          </a:xfrm>
          <a:prstGeom prst="roundRect">
            <a:avLst>
              <a:gd name="adj" fmla="val 5882"/>
            </a:avLst>
          </a:prstGeom>
          <a:solidFill>
            <a:srgbClr val="F3EFE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47672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AB4E2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34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85800" y="27432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totales definidos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017520" y="1783080"/>
            <a:ext cx="2286000" cy="1554480"/>
          </a:xfrm>
          <a:prstGeom prst="roundRect">
            <a:avLst>
              <a:gd name="adj" fmla="val 5882"/>
            </a:avLst>
          </a:prstGeom>
          <a:solidFill>
            <a:srgbClr val="F3EFE8"/>
          </a:solidFill>
          <a:ln/>
        </p:spPr>
      </p:sp>
      <p:sp>
        <p:nvSpPr>
          <p:cNvPr id="8" name="Text 6"/>
          <p:cNvSpPr/>
          <p:nvPr/>
        </p:nvSpPr>
        <p:spPr>
          <a:xfrm>
            <a:off x="3017520" y="1947672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AB4E2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≈90%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154680" y="27432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promedio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520440"/>
            <a:ext cx="2286000" cy="1554480"/>
          </a:xfrm>
          <a:prstGeom prst="roundRect">
            <a:avLst>
              <a:gd name="adj" fmla="val 5882"/>
            </a:avLst>
          </a:prstGeom>
          <a:solidFill>
            <a:srgbClr val="F3EFE8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685032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AB4E2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7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85800" y="44805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completados al 100%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017520" y="3520440"/>
            <a:ext cx="2286000" cy="1554480"/>
          </a:xfrm>
          <a:prstGeom prst="roundRect">
            <a:avLst>
              <a:gd name="adj" fmla="val 5882"/>
            </a:avLst>
          </a:prstGeom>
          <a:solidFill>
            <a:srgbClr val="F3EFE8"/>
          </a:solidFill>
          <a:ln/>
        </p:spPr>
      </p:sp>
      <p:sp>
        <p:nvSpPr>
          <p:cNvPr id="14" name="Text 12"/>
          <p:cNvSpPr/>
          <p:nvPr/>
        </p:nvSpPr>
        <p:spPr>
          <a:xfrm>
            <a:off x="3017520" y="3685032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AB4E2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23/34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3154680" y="44805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con 90% o más de avance</a:t>
            </a:r>
            <a:endParaRPr lang="en-US" sz="11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6080760" y="1600200"/>
          <a:ext cx="548640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Shape 14"/>
          <p:cNvSpPr/>
          <p:nvPr/>
        </p:nvSpPr>
        <p:spPr>
          <a:xfrm>
            <a:off x="548640" y="6053328"/>
            <a:ext cx="11091672" cy="457200"/>
          </a:xfrm>
          <a:prstGeom prst="roundRect">
            <a:avLst>
              <a:gd name="adj" fmla="val 16000"/>
            </a:avLst>
          </a:prstGeom>
          <a:solidFill>
            <a:srgbClr val="F3EFE8"/>
          </a:solidFill>
          <a:ln/>
        </p:spPr>
      </p:sp>
      <p:sp>
        <p:nvSpPr>
          <p:cNvPr id="18" name="Text 15"/>
          <p:cNvSpPr/>
          <p:nvPr/>
        </p:nvSpPr>
        <p:spPr>
          <a:xfrm>
            <a:off x="777240" y="6053328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C3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Cifras verificadas directamente contra el código real (backend/apps/) en varias rondas de auditoría técnica — no solo contra el documento de seguimiento.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SIGEPAN  ·  Y&amp;C SYSTEMS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0911535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34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B4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DEL PROYECTO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1B1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Retos técnicos y decisiones de arquitectura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1051560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▪"/>
            </a:pPr>
            <a:r>
              <a:rPr lang="en-US" sz="1500" b="1" dirty="0">
                <a:solidFill>
                  <a:srgbClr val="AB4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Repository/Service: </a:t>
            </a:r>
            <a:pPr indent="0" marL="0">
              <a:spcAft>
                <a:spcPts val="1600"/>
              </a:spcAft>
              <a:buNone/>
            </a:pPr>
            <a:r>
              <a:rPr lang="en-US" sz="15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separó la lógica de negocio del ORM en Ventas, Inventario, Compras, Caja, Mermas y Ajustes.</a:t>
            </a:r>
            <a:endParaRPr lang="en-US" sz="1500" dirty="0"/>
          </a:p>
          <a:p>
            <a:pPr marL="342900" indent="-342900">
              <a:buSzPct val="100000"/>
              <a:buChar char="▪"/>
            </a:pPr>
            <a:r>
              <a:rPr lang="en-US" sz="1500" b="1" dirty="0">
                <a:solidFill>
                  <a:srgbClr val="AB4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Migración a Tabulator.js: </a:t>
            </a:r>
            <a:pPr indent="0" marL="0">
              <a:spcAft>
                <a:spcPts val="1600"/>
              </a:spcAft>
              <a:buNone/>
            </a:pPr>
            <a:r>
              <a:rPr lang="en-US" sz="15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tablas de listado pasaron de jQuery DataTables (código muerto) a un helper propio, con búsqueda y paginación reales.</a:t>
            </a:r>
            <a:endParaRPr lang="en-US" sz="1500" dirty="0"/>
          </a:p>
          <a:p>
            <a:pPr marL="342900" indent="-342900">
              <a:buSzPct val="100000"/>
              <a:buChar char="▪"/>
            </a:pPr>
            <a:r>
              <a:rPr lang="en-US" sz="1500" b="1" dirty="0">
                <a:solidFill>
                  <a:srgbClr val="AB4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sin formsets: </a:t>
            </a:r>
            <a:pPr indent="0" marL="0">
              <a:spcAft>
                <a:spcPts val="1600"/>
              </a:spcAft>
              <a:buNone/>
            </a:pPr>
            <a:r>
              <a:rPr lang="en-US" sz="15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carrito pasó de Django formsets a un contrato JSON único, tras varias rondas de bugs difíciles de depurar.</a:t>
            </a:r>
            <a:endParaRPr lang="en-US" sz="1500" dirty="0"/>
          </a:p>
          <a:p>
            <a:pPr marL="342900" indent="-342900">
              <a:buSzPct val="100000"/>
              <a:buChar char="▪"/>
            </a:pPr>
            <a:r>
              <a:rPr lang="en-US" sz="1500" b="1" dirty="0">
                <a:solidFill>
                  <a:srgbClr val="AB4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de zona horaria: </a:t>
            </a:r>
            <a:pPr indent="0" marL="0">
              <a:spcAft>
                <a:spcPts val="1600"/>
              </a:spcAft>
              <a:buNone/>
            </a:pPr>
            <a:r>
              <a:rPr lang="en-US" sz="15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patrón repetido en 6 archivos ocultaba las ventas del día; corregido calculando el rango de fechas en Python.</a:t>
            </a:r>
            <a:endParaRPr lang="en-US" sz="1500" dirty="0"/>
          </a:p>
          <a:p>
            <a:pPr marL="342900" indent="-342900">
              <a:buSzPct val="100000"/>
              <a:buChar char="▪"/>
            </a:pPr>
            <a:r>
              <a:rPr lang="en-US" sz="1500" b="1" dirty="0">
                <a:solidFill>
                  <a:srgbClr val="AB4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Seguridad: </a:t>
            </a:r>
            <a:pPr indent="0" marL="0">
              <a:spcAft>
                <a:spcPts val="1600"/>
              </a:spcAft>
              <a:buNone/>
            </a:pPr>
            <a:r>
              <a:rPr lang="en-US" sz="15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hallazgos reales corregidos — XSS reflejado, mutación de estado vía GET sin CSRF, endpoints sin control de sesión.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SIGEPAN  ·  Y&amp;C SYSTEMS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11535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34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B4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DEL PROYECTO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1B1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Conclusiones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418320" y="4206240"/>
            <a:ext cx="3840480" cy="3840480"/>
          </a:xfrm>
          <a:prstGeom prst="ellipse">
            <a:avLst/>
          </a:prstGeom>
          <a:solidFill>
            <a:srgbClr val="E8A33D">
              <a:alpha val="1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37360"/>
            <a:ext cx="960120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▪"/>
            </a:pPr>
            <a:r>
              <a:rPr lang="en-US" sz="1550" b="1" dirty="0">
                <a:solidFill>
                  <a:srgbClr val="AB4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completo: </a:t>
            </a:r>
            <a:pPr indent="0" marL="0">
              <a:spcAft>
                <a:spcPts val="1800"/>
              </a:spcAft>
              <a:buNone/>
            </a:pPr>
            <a:r>
              <a:rPr lang="en-US" sz="155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SIGEPAN cubre compras, inventario, ventas/POS, caja y reportes en un solo sistema.</a:t>
            </a:r>
            <a:endParaRPr lang="en-US" sz="1550" dirty="0"/>
          </a:p>
          <a:p>
            <a:pPr marL="342900" indent="-342900">
              <a:buSzPct val="100000"/>
              <a:buChar char="▪"/>
            </a:pPr>
            <a:r>
              <a:rPr lang="en-US" sz="1550" b="1" dirty="0">
                <a:solidFill>
                  <a:srgbClr val="AB4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demostrada: </a:t>
            </a:r>
            <a:pPr indent="0" marL="0">
              <a:spcAft>
                <a:spcPts val="1800"/>
              </a:spcAft>
              <a:buNone/>
            </a:pPr>
            <a:r>
              <a:rPr lang="en-US" sz="155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de roles y auditoría no solo está diseñado — quedó verificado funcionando (bitácora de ACCESO_DENEGADO real).</a:t>
            </a:r>
            <a:endParaRPr lang="en-US" sz="1550" dirty="0"/>
          </a:p>
          <a:p>
            <a:pPr marL="342900" indent="-342900">
              <a:buSzPct val="100000"/>
              <a:buChar char="▪"/>
            </a:pPr>
            <a:r>
              <a:rPr lang="en-US" sz="1550" b="1" dirty="0">
                <a:solidFill>
                  <a:srgbClr val="AB4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verificada: </a:t>
            </a:r>
            <a:pPr indent="0" marL="0">
              <a:spcAft>
                <a:spcPts val="1800"/>
              </a:spcAft>
              <a:buNone/>
            </a:pPr>
            <a:r>
              <a:rPr lang="en-US" sz="155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≈90% de avance promedio sobre 34 RF, confirmado contra el código real en varias rondas de auditoría técnica.</a:t>
            </a:r>
            <a:endParaRPr lang="en-US" sz="1550" dirty="0"/>
          </a:p>
          <a:p>
            <a:pPr marL="342900" indent="-342900">
              <a:buSzPct val="100000"/>
              <a:buChar char="▪"/>
            </a:pPr>
            <a:r>
              <a:rPr lang="en-US" sz="1550" b="1" dirty="0">
                <a:solidFill>
                  <a:srgbClr val="AB4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en equipo: </a:t>
            </a:r>
            <a:pPr indent="0" marL="0">
              <a:spcAft>
                <a:spcPts val="1800"/>
              </a:spcAft>
              <a:buNone/>
            </a:pPr>
            <a:r>
              <a:rPr lang="en-US" sz="155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RF desarrollados por César y 21 por Yilbert, integrados en una sola arquitectura.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SIGEPAN  ·  Y&amp;C SYSTEMS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911535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/ 34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B4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DEL PROYECTO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1B1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Trabajo futuro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500"/>
              </a:spcAft>
              <a:buSzPct val="100000"/>
              <a:buChar char="▪"/>
            </a:pPr>
            <a:r>
              <a:rPr lang="en-US" sz="15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automatizadas (tests.py) en varias apps siguen vacías.</a:t>
            </a:r>
            <a:endParaRPr lang="en-US" sz="1500" dirty="0"/>
          </a:p>
          <a:p>
            <a:pPr marL="342900" indent="-342900">
              <a:spcAft>
                <a:spcPts val="1500"/>
              </a:spcAft>
              <a:buSzPct val="100000"/>
              <a:buChar char="▪"/>
            </a:pPr>
            <a:r>
              <a:rPr lang="en-US" sz="15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Completar la vinculación con Google Sheets (RF-023, 55%).</a:t>
            </a:r>
            <a:endParaRPr lang="en-US" sz="1500" dirty="0"/>
          </a:p>
          <a:p>
            <a:pPr marL="342900" indent="-342900">
              <a:spcAft>
                <a:spcPts val="1500"/>
              </a:spcAft>
              <a:buSzPct val="100000"/>
              <a:buChar char="▪"/>
            </a:pPr>
            <a:r>
              <a:rPr lang="en-US" sz="15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Reforzar el control de accesos transversal en todas las apps (RF-004, 65%).</a:t>
            </a:r>
            <a:endParaRPr lang="en-US" sz="1500" dirty="0"/>
          </a:p>
          <a:p>
            <a:pPr marL="342900" indent="-342900">
              <a:spcAft>
                <a:spcPts val="1500"/>
              </a:spcAft>
              <a:buSzPct val="100000"/>
              <a:buChar char="▪"/>
            </a:pPr>
            <a:r>
              <a:rPr lang="en-US" sz="15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Bloqueo temporal de login tras varios intentos fallidos.</a:t>
            </a:r>
            <a:endParaRPr lang="en-US" sz="1500" dirty="0"/>
          </a:p>
          <a:p>
            <a:pPr marL="342900" indent="-342900">
              <a:spcAft>
                <a:spcPts val="1500"/>
              </a:spcAft>
              <a:buSzPct val="100000"/>
              <a:buChar char="▪"/>
            </a:pPr>
            <a:r>
              <a:rPr lang="en-US" sz="15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dedicado de mermas y mejoras a la administración de ayudas (RF-032, 70%).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SIGEPAN  ·  Y&amp;C SYSTEMS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11535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/ 34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2B1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-2377440"/>
            <a:ext cx="6400800" cy="6400800"/>
          </a:xfrm>
          <a:prstGeom prst="ellipse">
            <a:avLst/>
          </a:prstGeom>
          <a:solidFill>
            <a:srgbClr val="AB4E29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509760" y="4206240"/>
            <a:ext cx="5669280" cy="5669280"/>
          </a:xfrm>
          <a:prstGeom prst="ellipse">
            <a:avLst/>
          </a:prstGeom>
          <a:solidFill>
            <a:srgbClr val="E8A33D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28600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GRACIAS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868680" y="34290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¿Preguntas?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" y="4892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B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SIGEPAN — Sistema Integral de Gestión para Panaderías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52578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César Campos   ·   Yilbert Fernández   ·   Y&amp;C SYSTEMS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8B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SIGEPAN  ·  Y&amp;C SYSTEMS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911535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8B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/ 34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Y and C Systems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SIGEPAN - Presentacion de Defensa Academica</dc:title>
  <dc:subject>PptxGenJS Presentation</dc:subject>
  <dc:creator>Y and C Systems</dc:creator>
  <cp:lastModifiedBy>Y and C Systems</cp:lastModifiedBy>
  <cp:revision>1</cp:revision>
  <dcterms:created xsi:type="dcterms:W3CDTF">2026-08-10T12:36:53Z</dcterms:created>
  <dcterms:modified xsi:type="dcterms:W3CDTF">2026-08-10T12:36:53Z</dcterms:modified>
</cp:coreProperties>
</file>